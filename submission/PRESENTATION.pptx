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Garamond Bold" charset="1" panose="02020804030307010803"/>
      <p:regular r:id="rId12"/>
    </p:embeddedFont>
    <p:embeddedFont>
      <p:font typeface="Arial Bold" charset="1" panose="020B0704020202020204"/>
      <p:regular r:id="rId13"/>
    </p:embeddedFont>
    <p:embeddedFont>
      <p:font typeface="Arial" charset="1" panose="020B0604020202020204"/>
      <p:regular r:id="rId14"/>
    </p:embeddedFont>
    <p:embeddedFont>
      <p:font typeface="Arimo Bold" charset="1" panose="020B0704020202020204"/>
      <p:regular r:id="rId18"/>
    </p:embeddedFont>
    <p:embeddedFont>
      <p:font typeface="Calibri (MS)" charset="1" panose="020F0502020204030204"/>
      <p:regular r:id="rId19"/>
    </p:embeddedFont>
    <p:embeddedFont>
      <p:font typeface="Calibri (MS) Bold" charset="1" panose="020F0702030404030204"/>
      <p:regular r:id="rId20"/>
    </p:embeddedFont>
    <p:embeddedFont>
      <p:font typeface="Times New Roman Bold" charset="1" panose="02020803070505020304"/>
      <p:regular r:id="rId22"/>
    </p:embeddedFont>
    <p:embeddedFont>
      <p:font typeface="Arimo" charset="1" panose="020B0604020202020204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notesMasters/notesMaster1.xml" Type="http://schemas.openxmlformats.org/officeDocument/2006/relationships/notesMaster"/><Relationship Id="rId16" Target="theme/theme2.xml" Type="http://schemas.openxmlformats.org/officeDocument/2006/relationships/theme"/><Relationship Id="rId17" Target="notesSlides/notesSlide1.xml" Type="http://schemas.openxmlformats.org/officeDocument/2006/relationships/notes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notesSlides/notesSlide2.xml" Type="http://schemas.openxmlformats.org/officeDocument/2006/relationships/notesSlide"/><Relationship Id="rId22" Target="fonts/font22.fntdata" Type="http://schemas.openxmlformats.org/officeDocument/2006/relationships/font"/><Relationship Id="rId23" Target="notesSlides/notesSlide3.xml" Type="http://schemas.openxmlformats.org/officeDocument/2006/relationships/notesSlide"/><Relationship Id="rId24" Target="notesSlides/notesSlide4.xml" Type="http://schemas.openxmlformats.org/officeDocument/2006/relationships/notesSlide"/><Relationship Id="rId25" Target="notesSlides/notesSlide5.xml" Type="http://schemas.openxmlformats.org/officeDocument/2006/relationships/notesSlide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jpe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4.jpe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png" Type="http://schemas.openxmlformats.org/officeDocument/2006/relationships/image"/><Relationship Id="rId12" Target="../media/image5.png" Type="http://schemas.openxmlformats.org/officeDocument/2006/relationships/image"/><Relationship Id="rId13" Target="../media/image15.png" Type="http://schemas.openxmlformats.org/officeDocument/2006/relationships/image"/><Relationship Id="rId14" Target="../media/image16.png" Type="http://schemas.openxmlformats.org/officeDocument/2006/relationships/image"/><Relationship Id="rId2" Target="../notesSlides/notesSlide2.xml" Type="http://schemas.openxmlformats.org/officeDocument/2006/relationships/notesSlide"/><Relationship Id="rId3" Target="../media/image4.jpe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Relationship Id="rId7" Target="../media/image10.png" Type="http://schemas.openxmlformats.org/officeDocument/2006/relationships/image"/><Relationship Id="rId8" Target="../media/image11.pn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svg" Type="http://schemas.openxmlformats.org/officeDocument/2006/relationships/image"/><Relationship Id="rId11" Target="../media/image23.png" Type="http://schemas.openxmlformats.org/officeDocument/2006/relationships/image"/><Relationship Id="rId12" Target="../media/image24.svg" Type="http://schemas.openxmlformats.org/officeDocument/2006/relationships/image"/><Relationship Id="rId13" Target="../media/image25.png" Type="http://schemas.openxmlformats.org/officeDocument/2006/relationships/image"/><Relationship Id="rId14" Target="../media/image26.svg" Type="http://schemas.openxmlformats.org/officeDocument/2006/relationships/image"/><Relationship Id="rId2" Target="../notesSlides/notesSlide3.xml" Type="http://schemas.openxmlformats.org/officeDocument/2006/relationships/notesSlide"/><Relationship Id="rId3" Target="../media/image4.jpeg" Type="http://schemas.openxmlformats.org/officeDocument/2006/relationships/image"/><Relationship Id="rId4" Target="../media/image5.png" Type="http://schemas.openxmlformats.org/officeDocument/2006/relationships/image"/><Relationship Id="rId5" Target="../media/image17.png" Type="http://schemas.openxmlformats.org/officeDocument/2006/relationships/image"/><Relationship Id="rId6" Target="../media/image18.png" Type="http://schemas.openxmlformats.org/officeDocument/2006/relationships/image"/><Relationship Id="rId7" Target="../media/image19.svg" Type="http://schemas.openxmlformats.org/officeDocument/2006/relationships/image"/><Relationship Id="rId8" Target="../media/image20.png" Type="http://schemas.openxmlformats.org/officeDocument/2006/relationships/image"/><Relationship Id="rId9" Target="../media/image2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4.jpeg" Type="http://schemas.openxmlformats.org/officeDocument/2006/relationships/image"/><Relationship Id="rId4" Target="../media/image5.png" Type="http://schemas.openxmlformats.org/officeDocument/2006/relationships/image"/><Relationship Id="rId5" Target="../media/image27.png" Type="http://schemas.openxmlformats.org/officeDocument/2006/relationships/image"/><Relationship Id="rId6" Target="../media/image2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4.jpeg" Type="http://schemas.openxmlformats.org/officeDocument/2006/relationships/image"/><Relationship Id="rId4" Target="../media/image5.png" Type="http://schemas.openxmlformats.org/officeDocument/2006/relationships/image"/><Relationship Id="rId5" Target="https://go.dev/blog/pipelines" TargetMode="External" Type="http://schemas.openxmlformats.org/officeDocument/2006/relationships/hyperlink"/><Relationship Id="rId6" Target="https://www.gofaq.org/en/how-to-implement-the-worker-pool-pattern-in-go" TargetMode="External" Type="http://schemas.openxmlformats.org/officeDocument/2006/relationships/hyperlink"/><Relationship Id="rId7" Target="https://redis.io/docs/latest/develop/use-cases/cache-aside/" TargetMode="External" Type="http://schemas.openxmlformats.org/officeDocument/2006/relationships/hyperlink"/><Relationship Id="rId8" Target="https://jiemingzhu.github.io/pub/pjhe_icws2017.pdf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301392" y="1277274"/>
            <a:ext cx="6957908" cy="7732452"/>
          </a:xfrm>
          <a:custGeom>
            <a:avLst/>
            <a:gdLst/>
            <a:ahLst/>
            <a:cxnLst/>
            <a:rect r="r" b="b" t="t" l="l"/>
            <a:pathLst>
              <a:path h="7732452" w="6957908">
                <a:moveTo>
                  <a:pt x="0" y="0"/>
                </a:moveTo>
                <a:lnTo>
                  <a:pt x="6957908" y="0"/>
                </a:lnTo>
                <a:lnTo>
                  <a:pt x="6957908" y="7732452"/>
                </a:lnTo>
                <a:lnTo>
                  <a:pt x="0" y="77324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098560" y="2573807"/>
            <a:ext cx="4805267" cy="5139357"/>
            <a:chOff x="0" y="0"/>
            <a:chExt cx="6407023" cy="685247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407023" cy="6852412"/>
            </a:xfrm>
            <a:custGeom>
              <a:avLst/>
              <a:gdLst/>
              <a:ahLst/>
              <a:cxnLst/>
              <a:rect r="r" b="b" t="t" l="l"/>
              <a:pathLst>
                <a:path h="6852412" w="6407023">
                  <a:moveTo>
                    <a:pt x="0" y="0"/>
                  </a:moveTo>
                  <a:lnTo>
                    <a:pt x="6407023" y="0"/>
                  </a:lnTo>
                  <a:lnTo>
                    <a:pt x="6407023" y="6852412"/>
                  </a:lnTo>
                  <a:lnTo>
                    <a:pt x="0" y="6852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49475" b="-1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496929" y="-790137"/>
            <a:ext cx="15544800" cy="3114675"/>
            <a:chOff x="0" y="0"/>
            <a:chExt cx="20726400" cy="41529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726400" cy="4152900"/>
            </a:xfrm>
            <a:custGeom>
              <a:avLst/>
              <a:gdLst/>
              <a:ahLst/>
              <a:cxnLst/>
              <a:rect r="r" b="b" t="t" l="l"/>
              <a:pathLst>
                <a:path h="415290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4152900"/>
                  </a:lnTo>
                  <a:lnTo>
                    <a:pt x="0" y="41529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7246" r="0" b="-4724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0726400" cy="4171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1F497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SMART INDIA HACKATHON 2026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588369" y="3131820"/>
            <a:ext cx="12423538" cy="6010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</a:p>
          <a:p>
            <a:pPr algn="just" marL="542928" indent="-271464" lvl="1">
              <a:lnSpc>
                <a:spcPts val="72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ID – </a:t>
            </a: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SIH26156</a:t>
            </a:r>
          </a:p>
          <a:p>
            <a:pPr algn="just" marL="542928" indent="-271464" lvl="1">
              <a:lnSpc>
                <a:spcPts val="72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Title- </a:t>
            </a: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Universal Log Pre-processing Framework</a:t>
            </a:r>
          </a:p>
          <a:p>
            <a:pPr algn="just" marL="542928" indent="-271464" lvl="1">
              <a:lnSpc>
                <a:spcPts val="72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Theme- </a:t>
            </a: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Blockchain &amp; Cybersecurity</a:t>
            </a:r>
          </a:p>
          <a:p>
            <a:pPr algn="just" marL="542928" indent="-271464" lvl="1">
              <a:lnSpc>
                <a:spcPts val="72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PS Category- </a:t>
            </a: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Software</a:t>
            </a:r>
          </a:p>
          <a:p>
            <a:pPr algn="just" marL="651510" indent="-325755" lvl="1">
              <a:lnSpc>
                <a:spcPts val="864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ID-</a:t>
            </a:r>
          </a:p>
          <a:p>
            <a:pPr algn="just" marL="542928" indent="-271464" lvl="1">
              <a:lnSpc>
                <a:spcPts val="72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Name- </a:t>
            </a: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EleventhHour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4762045" y="9449"/>
            <a:ext cx="3313681" cy="1684306"/>
            <a:chOff x="0" y="0"/>
            <a:chExt cx="4418241" cy="224574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418203" cy="2245741"/>
            </a:xfrm>
            <a:custGeom>
              <a:avLst/>
              <a:gdLst/>
              <a:ahLst/>
              <a:cxnLst/>
              <a:rect r="r" b="b" t="t" l="l"/>
              <a:pathLst>
                <a:path h="2245741" w="4418203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70" t="0" r="-270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256481" y="359321"/>
            <a:ext cx="2135018" cy="1249101"/>
            <a:chOff x="0" y="0"/>
            <a:chExt cx="2846691" cy="1665468"/>
          </a:xfrm>
        </p:grpSpPr>
        <p:sp>
          <p:nvSpPr>
            <p:cNvPr name="Freeform 8" id="8" descr="Your startup LOGO"/>
            <p:cNvSpPr/>
            <p:nvPr/>
          </p:nvSpPr>
          <p:spPr>
            <a:xfrm flipH="false" flipV="false" rot="0">
              <a:off x="0" y="0"/>
              <a:ext cx="2846648" cy="1665481"/>
            </a:xfrm>
            <a:custGeom>
              <a:avLst/>
              <a:gdLst/>
              <a:ahLst/>
              <a:cxnLst/>
              <a:rect r="r" b="b" t="t" l="l"/>
              <a:pathLst>
                <a:path h="1665481" w="2846648">
                  <a:moveTo>
                    <a:pt x="0" y="832740"/>
                  </a:moveTo>
                  <a:cubicBezTo>
                    <a:pt x="0" y="372873"/>
                    <a:pt x="637290" y="0"/>
                    <a:pt x="1423324" y="0"/>
                  </a:cubicBezTo>
                  <a:cubicBezTo>
                    <a:pt x="2209358" y="0"/>
                    <a:pt x="2846648" y="372873"/>
                    <a:pt x="2846648" y="832740"/>
                  </a:cubicBezTo>
                  <a:cubicBezTo>
                    <a:pt x="2846648" y="1292608"/>
                    <a:pt x="2209358" y="1665481"/>
                    <a:pt x="1423324" y="1665481"/>
                  </a:cubicBezTo>
                  <a:cubicBezTo>
                    <a:pt x="637290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2846691" cy="17226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EleventhHour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4762045" y="85649"/>
            <a:ext cx="3313681" cy="1684306"/>
            <a:chOff x="0" y="0"/>
            <a:chExt cx="4418241" cy="224574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418203" cy="2245741"/>
            </a:xfrm>
            <a:custGeom>
              <a:avLst/>
              <a:gdLst/>
              <a:ahLst/>
              <a:cxnLst/>
              <a:rect r="r" b="b" t="t" l="l"/>
              <a:pathLst>
                <a:path h="2245741" w="4418203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70" t="0" r="-270" b="0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0" y="2916376"/>
            <a:ext cx="18202173" cy="5610781"/>
          </a:xfrm>
          <a:custGeom>
            <a:avLst/>
            <a:gdLst/>
            <a:ahLst/>
            <a:cxnLst/>
            <a:rect r="r" b="b" t="t" l="l"/>
            <a:pathLst>
              <a:path h="5610781" w="18202173">
                <a:moveTo>
                  <a:pt x="0" y="0"/>
                </a:moveTo>
                <a:lnTo>
                  <a:pt x="18202173" y="0"/>
                </a:lnTo>
                <a:lnTo>
                  <a:pt x="18202173" y="5610781"/>
                </a:lnTo>
                <a:lnTo>
                  <a:pt x="0" y="56107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4035" r="0" b="-4035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028700" y="469116"/>
            <a:ext cx="14464025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6"/>
              </a:lnSpc>
            </a:pPr>
            <a:r>
              <a:rPr lang="en-US" b="true" sz="3738">
                <a:solidFill>
                  <a:srgbClr val="1F497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Intelligent Log Normalization &amp; Parser Generation System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239486" y="1960121"/>
            <a:ext cx="9374271" cy="1314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84"/>
              </a:lnSpc>
            </a:pPr>
            <a:r>
              <a:rPr lang="en-US" sz="4070">
                <a:solidFill>
                  <a:srgbClr val="3678CB"/>
                </a:solidFill>
                <a:latin typeface="Calibri (MS)"/>
                <a:ea typeface="Calibri (MS)"/>
                <a:cs typeface="Calibri (MS)"/>
                <a:sym typeface="Calibri (MS)"/>
              </a:rPr>
              <a:t>Zero-Manual-Regex Ingestion Engine</a:t>
            </a:r>
          </a:p>
          <a:p>
            <a:pPr algn="l">
              <a:lnSpc>
                <a:spcPts val="4884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475612" y="359321"/>
            <a:ext cx="1915887" cy="1249099"/>
            <a:chOff x="0" y="0"/>
            <a:chExt cx="2554516" cy="1665465"/>
          </a:xfrm>
        </p:grpSpPr>
        <p:sp>
          <p:nvSpPr>
            <p:cNvPr name="Freeform 8" id="8" descr="Your startup LOGO"/>
            <p:cNvSpPr/>
            <p:nvPr/>
          </p:nvSpPr>
          <p:spPr>
            <a:xfrm flipH="false" flipV="false" rot="0">
              <a:off x="0" y="0"/>
              <a:ext cx="2554478" cy="1665478"/>
            </a:xfrm>
            <a:custGeom>
              <a:avLst/>
              <a:gdLst/>
              <a:ahLst/>
              <a:cxnLst/>
              <a:rect r="r" b="b" t="t" l="l"/>
              <a:pathLst>
                <a:path h="1665478" w="2554478">
                  <a:moveTo>
                    <a:pt x="0" y="832739"/>
                  </a:moveTo>
                  <a:cubicBezTo>
                    <a:pt x="0" y="372872"/>
                    <a:pt x="571881" y="0"/>
                    <a:pt x="1277239" y="0"/>
                  </a:cubicBezTo>
                  <a:cubicBezTo>
                    <a:pt x="1982597" y="0"/>
                    <a:pt x="2554478" y="372872"/>
                    <a:pt x="2554478" y="832739"/>
                  </a:cubicBezTo>
                  <a:cubicBezTo>
                    <a:pt x="2554478" y="1292606"/>
                    <a:pt x="1982597" y="1665478"/>
                    <a:pt x="1277239" y="1665478"/>
                  </a:cubicBezTo>
                  <a:cubicBezTo>
                    <a:pt x="571881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2554516" cy="17226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Your Team Name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TECHNICAL APPROACH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395877" y="8036142"/>
            <a:ext cx="600389" cy="600389"/>
          </a:xfrm>
          <a:custGeom>
            <a:avLst/>
            <a:gdLst/>
            <a:ahLst/>
            <a:cxnLst/>
            <a:rect r="r" b="b" t="t" l="l"/>
            <a:pathLst>
              <a:path h="600389" w="600389">
                <a:moveTo>
                  <a:pt x="0" y="0"/>
                </a:moveTo>
                <a:lnTo>
                  <a:pt x="600389" y="0"/>
                </a:lnTo>
                <a:lnTo>
                  <a:pt x="600389" y="600389"/>
                </a:lnTo>
                <a:lnTo>
                  <a:pt x="0" y="6003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2147437" y="8007794"/>
            <a:ext cx="679675" cy="582578"/>
          </a:xfrm>
          <a:custGeom>
            <a:avLst/>
            <a:gdLst/>
            <a:ahLst/>
            <a:cxnLst/>
            <a:rect r="r" b="b" t="t" l="l"/>
            <a:pathLst>
              <a:path h="582578" w="679675">
                <a:moveTo>
                  <a:pt x="0" y="0"/>
                </a:moveTo>
                <a:lnTo>
                  <a:pt x="679675" y="0"/>
                </a:lnTo>
                <a:lnTo>
                  <a:pt x="679675" y="582578"/>
                </a:lnTo>
                <a:lnTo>
                  <a:pt x="0" y="58257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535893" y="7961635"/>
            <a:ext cx="761462" cy="674895"/>
          </a:xfrm>
          <a:custGeom>
            <a:avLst/>
            <a:gdLst/>
            <a:ahLst/>
            <a:cxnLst/>
            <a:rect r="r" b="b" t="t" l="l"/>
            <a:pathLst>
              <a:path h="674895" w="761462">
                <a:moveTo>
                  <a:pt x="0" y="0"/>
                </a:moveTo>
                <a:lnTo>
                  <a:pt x="761461" y="0"/>
                </a:lnTo>
                <a:lnTo>
                  <a:pt x="761461" y="674896"/>
                </a:lnTo>
                <a:lnTo>
                  <a:pt x="0" y="67489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2994286" y="8036142"/>
            <a:ext cx="618057" cy="618057"/>
          </a:xfrm>
          <a:custGeom>
            <a:avLst/>
            <a:gdLst/>
            <a:ahLst/>
            <a:cxnLst/>
            <a:rect r="r" b="b" t="t" l="l"/>
            <a:pathLst>
              <a:path h="618057" w="618057">
                <a:moveTo>
                  <a:pt x="0" y="0"/>
                </a:moveTo>
                <a:lnTo>
                  <a:pt x="618057" y="0"/>
                </a:lnTo>
                <a:lnTo>
                  <a:pt x="618057" y="618057"/>
                </a:lnTo>
                <a:lnTo>
                  <a:pt x="0" y="61805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011542" y="8714410"/>
            <a:ext cx="571624" cy="537160"/>
          </a:xfrm>
          <a:custGeom>
            <a:avLst/>
            <a:gdLst/>
            <a:ahLst/>
            <a:cxnLst/>
            <a:rect r="r" b="b" t="t" l="l"/>
            <a:pathLst>
              <a:path h="537160" w="571624">
                <a:moveTo>
                  <a:pt x="0" y="0"/>
                </a:moveTo>
                <a:lnTo>
                  <a:pt x="571624" y="0"/>
                </a:lnTo>
                <a:lnTo>
                  <a:pt x="571624" y="537160"/>
                </a:lnTo>
                <a:lnTo>
                  <a:pt x="0" y="53716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47288" t="-24344" r="-41284" b="-26631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689141" y="8782930"/>
            <a:ext cx="655784" cy="400120"/>
          </a:xfrm>
          <a:custGeom>
            <a:avLst/>
            <a:gdLst/>
            <a:ahLst/>
            <a:cxnLst/>
            <a:rect r="r" b="b" t="t" l="l"/>
            <a:pathLst>
              <a:path h="400120" w="655784">
                <a:moveTo>
                  <a:pt x="0" y="0"/>
                </a:moveTo>
                <a:lnTo>
                  <a:pt x="655784" y="0"/>
                </a:lnTo>
                <a:lnTo>
                  <a:pt x="655784" y="400120"/>
                </a:lnTo>
                <a:lnTo>
                  <a:pt x="0" y="40012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2583050" y="8721140"/>
            <a:ext cx="488123" cy="488123"/>
          </a:xfrm>
          <a:custGeom>
            <a:avLst/>
            <a:gdLst/>
            <a:ahLst/>
            <a:cxnLst/>
            <a:rect r="r" b="b" t="t" l="l"/>
            <a:pathLst>
              <a:path h="488123" w="488123">
                <a:moveTo>
                  <a:pt x="0" y="0"/>
                </a:moveTo>
                <a:lnTo>
                  <a:pt x="488124" y="0"/>
                </a:lnTo>
                <a:lnTo>
                  <a:pt x="488124" y="488123"/>
                </a:lnTo>
                <a:lnTo>
                  <a:pt x="0" y="48812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3311835" y="8800719"/>
            <a:ext cx="695173" cy="364542"/>
          </a:xfrm>
          <a:custGeom>
            <a:avLst/>
            <a:gdLst/>
            <a:ahLst/>
            <a:cxnLst/>
            <a:rect r="r" b="b" t="t" l="l"/>
            <a:pathLst>
              <a:path h="364542" w="695173">
                <a:moveTo>
                  <a:pt x="0" y="0"/>
                </a:moveTo>
                <a:lnTo>
                  <a:pt x="695174" y="0"/>
                </a:lnTo>
                <a:lnTo>
                  <a:pt x="695174" y="364542"/>
                </a:lnTo>
                <a:lnTo>
                  <a:pt x="0" y="36454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256481" y="359321"/>
            <a:ext cx="2135018" cy="1249101"/>
            <a:chOff x="0" y="0"/>
            <a:chExt cx="2846691" cy="1665468"/>
          </a:xfrm>
        </p:grpSpPr>
        <p:sp>
          <p:nvSpPr>
            <p:cNvPr name="Freeform 22" id="22" descr="Your startup LOGO"/>
            <p:cNvSpPr/>
            <p:nvPr/>
          </p:nvSpPr>
          <p:spPr>
            <a:xfrm flipH="false" flipV="false" rot="0">
              <a:off x="0" y="0"/>
              <a:ext cx="2846648" cy="1665481"/>
            </a:xfrm>
            <a:custGeom>
              <a:avLst/>
              <a:gdLst/>
              <a:ahLst/>
              <a:cxnLst/>
              <a:rect r="r" b="b" t="t" l="l"/>
              <a:pathLst>
                <a:path h="1665481" w="2846648">
                  <a:moveTo>
                    <a:pt x="0" y="832740"/>
                  </a:moveTo>
                  <a:cubicBezTo>
                    <a:pt x="0" y="372873"/>
                    <a:pt x="637290" y="0"/>
                    <a:pt x="1423324" y="0"/>
                  </a:cubicBezTo>
                  <a:cubicBezTo>
                    <a:pt x="2209358" y="0"/>
                    <a:pt x="2846648" y="372873"/>
                    <a:pt x="2846648" y="832740"/>
                  </a:cubicBezTo>
                  <a:cubicBezTo>
                    <a:pt x="2846648" y="1292608"/>
                    <a:pt x="2209358" y="1665481"/>
                    <a:pt x="1423324" y="1665481"/>
                  </a:cubicBezTo>
                  <a:cubicBezTo>
                    <a:pt x="637290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57150"/>
              <a:ext cx="2846691" cy="17226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EleventhHour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4762045" y="85649"/>
            <a:ext cx="3313681" cy="1684306"/>
            <a:chOff x="0" y="0"/>
            <a:chExt cx="4418241" cy="224574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418203" cy="2245741"/>
            </a:xfrm>
            <a:custGeom>
              <a:avLst/>
              <a:gdLst/>
              <a:ahLst/>
              <a:cxnLst/>
              <a:rect r="r" b="b" t="t" l="l"/>
              <a:pathLst>
                <a:path h="2245741" w="4418203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-270" t="0" r="-270" b="0"/>
              </a:stretch>
            </a:blipFill>
          </p:spPr>
        </p:sp>
      </p:grpSp>
      <p:sp>
        <p:nvSpPr>
          <p:cNvPr name="Freeform 26" id="26"/>
          <p:cNvSpPr/>
          <p:nvPr/>
        </p:nvSpPr>
        <p:spPr>
          <a:xfrm flipH="false" flipV="false" rot="0">
            <a:off x="4472152" y="1709991"/>
            <a:ext cx="13239350" cy="7755224"/>
          </a:xfrm>
          <a:custGeom>
            <a:avLst/>
            <a:gdLst/>
            <a:ahLst/>
            <a:cxnLst/>
            <a:rect r="r" b="b" t="t" l="l"/>
            <a:pathLst>
              <a:path h="7755224" w="13239350">
                <a:moveTo>
                  <a:pt x="0" y="0"/>
                </a:moveTo>
                <a:lnTo>
                  <a:pt x="13239351" y="0"/>
                </a:lnTo>
                <a:lnTo>
                  <a:pt x="13239351" y="7755224"/>
                </a:lnTo>
                <a:lnTo>
                  <a:pt x="0" y="775522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307798" y="8660789"/>
            <a:ext cx="608825" cy="608825"/>
          </a:xfrm>
          <a:custGeom>
            <a:avLst/>
            <a:gdLst/>
            <a:ahLst/>
            <a:cxnLst/>
            <a:rect r="r" b="b" t="t" l="l"/>
            <a:pathLst>
              <a:path h="608825" w="608825">
                <a:moveTo>
                  <a:pt x="0" y="0"/>
                </a:moveTo>
                <a:lnTo>
                  <a:pt x="608825" y="0"/>
                </a:lnTo>
                <a:lnTo>
                  <a:pt x="608825" y="608825"/>
                </a:lnTo>
                <a:lnTo>
                  <a:pt x="0" y="60882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413272" y="1781735"/>
            <a:ext cx="3468330" cy="116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59"/>
              </a:lnSpc>
              <a:spcBef>
                <a:spcPct val="0"/>
              </a:spcBef>
            </a:pPr>
            <a:r>
              <a:rPr lang="en-US" b="true" sz="379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Technology Used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0" y="3086660"/>
            <a:ext cx="7070454" cy="3924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2045" indent="-251023" lvl="1">
              <a:lnSpc>
                <a:spcPts val="2790"/>
              </a:lnSpc>
              <a:buFont typeface="Arial"/>
              <a:buChar char="•"/>
            </a:pPr>
            <a:r>
              <a:rPr lang="en-US" b="true" sz="2325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Back</a:t>
            </a:r>
            <a:r>
              <a:rPr lang="en-US" b="true" sz="2325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end Engine:</a:t>
            </a:r>
            <a:r>
              <a:rPr lang="en-US" sz="232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Go </a:t>
            </a:r>
          </a:p>
          <a:p>
            <a:pPr algn="l" marL="502045" indent="-251023" lvl="1">
              <a:lnSpc>
                <a:spcPts val="2790"/>
              </a:lnSpc>
              <a:buFont typeface="Arial"/>
              <a:buChar char="•"/>
            </a:pPr>
            <a:r>
              <a:rPr lang="en-US" sz="232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</a:t>
            </a:r>
            <a:r>
              <a:rPr lang="en-US" b="true" sz="2325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essage Broker:</a:t>
            </a:r>
            <a:r>
              <a:rPr lang="en-US" sz="232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RabbitMQ </a:t>
            </a:r>
          </a:p>
          <a:p>
            <a:pPr algn="l" marL="502045" indent="-251023" lvl="1">
              <a:lnSpc>
                <a:spcPts val="2790"/>
              </a:lnSpc>
              <a:buFont typeface="Arial"/>
              <a:buChar char="•"/>
            </a:pPr>
            <a:r>
              <a:rPr lang="en-US" sz="232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H</a:t>
            </a:r>
            <a:r>
              <a:rPr lang="en-US" b="true" sz="2325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igh-Speed Cache:</a:t>
            </a:r>
            <a:r>
              <a:rPr lang="en-US" sz="232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Redis </a:t>
            </a:r>
          </a:p>
          <a:p>
            <a:pPr algn="l" marL="502045" indent="-251023" lvl="1">
              <a:lnSpc>
                <a:spcPts val="2790"/>
              </a:lnSpc>
              <a:buFont typeface="Arial"/>
              <a:buChar char="•"/>
            </a:pPr>
            <a:r>
              <a:rPr lang="en-US" sz="232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</a:t>
            </a:r>
            <a:r>
              <a:rPr lang="en-US" b="true" sz="2325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 / Parser Synthesizer:</a:t>
            </a:r>
            <a:r>
              <a:rPr lang="en-US" sz="232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  <a:p>
            <a:pPr algn="l">
              <a:lnSpc>
                <a:spcPts val="2790"/>
              </a:lnSpc>
            </a:pPr>
            <a:r>
              <a:rPr lang="en-US" sz="232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      </a:t>
            </a:r>
            <a:r>
              <a:rPr lang="en-US" sz="232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Python + FastAPI + </a:t>
            </a:r>
          </a:p>
          <a:p>
            <a:pPr algn="l">
              <a:lnSpc>
                <a:spcPts val="2790"/>
              </a:lnSpc>
            </a:pPr>
            <a:r>
              <a:rPr lang="en-US" sz="232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      </a:t>
            </a:r>
            <a:r>
              <a:rPr lang="en-US" sz="232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Pydantic + Groq API</a:t>
            </a:r>
          </a:p>
          <a:p>
            <a:pPr algn="l" marL="502045" indent="-251023" lvl="1">
              <a:lnSpc>
                <a:spcPts val="2790"/>
              </a:lnSpc>
              <a:buFont typeface="Arial"/>
              <a:buChar char="•"/>
            </a:pPr>
            <a:r>
              <a:rPr lang="en-US" sz="232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</a:t>
            </a:r>
            <a:r>
              <a:rPr lang="en-US" b="true" sz="2325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atabase &amp; Persistence:</a:t>
            </a:r>
            <a:r>
              <a:rPr lang="en-US" sz="232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  <a:p>
            <a:pPr algn="l">
              <a:lnSpc>
                <a:spcPts val="2790"/>
              </a:lnSpc>
            </a:pPr>
            <a:r>
              <a:rPr lang="en-US" sz="232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      </a:t>
            </a:r>
            <a:r>
              <a:rPr lang="en-US" sz="232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MongoDB </a:t>
            </a:r>
          </a:p>
          <a:p>
            <a:pPr algn="l">
              <a:lnSpc>
                <a:spcPts val="2790"/>
              </a:lnSpc>
            </a:pPr>
            <a:r>
              <a:rPr lang="en-US" sz="232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      </a:t>
            </a:r>
            <a:r>
              <a:rPr lang="en-US" sz="232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(Event store &amp; audit log)</a:t>
            </a:r>
          </a:p>
          <a:p>
            <a:pPr algn="l" marL="502045" indent="-251023" lvl="1">
              <a:lnSpc>
                <a:spcPts val="2790"/>
              </a:lnSpc>
              <a:buFont typeface="Arial"/>
              <a:buChar char="•"/>
            </a:pPr>
            <a:r>
              <a:rPr lang="en-US" sz="232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</a:t>
            </a:r>
            <a:r>
              <a:rPr lang="en-US" b="true" sz="2325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rontend UI:</a:t>
            </a:r>
            <a:r>
              <a:rPr lang="en-US" sz="232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  <a:p>
            <a:pPr algn="l">
              <a:lnSpc>
                <a:spcPts val="2790"/>
              </a:lnSpc>
            </a:pPr>
            <a:r>
              <a:rPr lang="en-US" sz="232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      </a:t>
            </a:r>
            <a:r>
              <a:rPr lang="en-US" sz="232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Next.js </a:t>
            </a:r>
            <a:r>
              <a:rPr lang="en-US" sz="232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Tailwind</a:t>
            </a:r>
            <a:r>
              <a:rPr lang="en-US" sz="232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FEASIBILITY AND VIABILITY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75612" y="359321"/>
            <a:ext cx="1915887" cy="1249099"/>
            <a:chOff x="0" y="0"/>
            <a:chExt cx="2554516" cy="1665465"/>
          </a:xfrm>
        </p:grpSpPr>
        <p:sp>
          <p:nvSpPr>
            <p:cNvPr name="Freeform 11" id="11" descr="Your startup LOGO"/>
            <p:cNvSpPr/>
            <p:nvPr/>
          </p:nvSpPr>
          <p:spPr>
            <a:xfrm flipH="false" flipV="false" rot="0">
              <a:off x="0" y="0"/>
              <a:ext cx="2554478" cy="1665478"/>
            </a:xfrm>
            <a:custGeom>
              <a:avLst/>
              <a:gdLst/>
              <a:ahLst/>
              <a:cxnLst/>
              <a:rect r="r" b="b" t="t" l="l"/>
              <a:pathLst>
                <a:path h="1665478" w="2554478">
                  <a:moveTo>
                    <a:pt x="0" y="832739"/>
                  </a:moveTo>
                  <a:cubicBezTo>
                    <a:pt x="0" y="372872"/>
                    <a:pt x="571881" y="0"/>
                    <a:pt x="1277239" y="0"/>
                  </a:cubicBezTo>
                  <a:cubicBezTo>
                    <a:pt x="1982597" y="0"/>
                    <a:pt x="2554478" y="372872"/>
                    <a:pt x="2554478" y="832739"/>
                  </a:cubicBezTo>
                  <a:cubicBezTo>
                    <a:pt x="2554478" y="1292606"/>
                    <a:pt x="1982597" y="1665478"/>
                    <a:pt x="1277239" y="1665478"/>
                  </a:cubicBezTo>
                  <a:cubicBezTo>
                    <a:pt x="571881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2554516" cy="17226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Your Team Name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4762045" y="85649"/>
            <a:ext cx="3313681" cy="1684306"/>
            <a:chOff x="0" y="0"/>
            <a:chExt cx="4418241" cy="224574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418203" cy="2245741"/>
            </a:xfrm>
            <a:custGeom>
              <a:avLst/>
              <a:gdLst/>
              <a:ahLst/>
              <a:cxnLst/>
              <a:rect r="r" b="b" t="t" l="l"/>
              <a:pathLst>
                <a:path h="2245741" w="4418203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70" t="0" r="-270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475612" y="1769214"/>
            <a:ext cx="5470531" cy="4514424"/>
            <a:chOff x="0" y="0"/>
            <a:chExt cx="1440798" cy="118898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40798" cy="1188984"/>
            </a:xfrm>
            <a:custGeom>
              <a:avLst/>
              <a:gdLst/>
              <a:ahLst/>
              <a:cxnLst/>
              <a:rect r="r" b="b" t="t" l="l"/>
              <a:pathLst>
                <a:path h="1188984" w="1440798">
                  <a:moveTo>
                    <a:pt x="72175" y="0"/>
                  </a:moveTo>
                  <a:lnTo>
                    <a:pt x="1368623" y="0"/>
                  </a:lnTo>
                  <a:cubicBezTo>
                    <a:pt x="1408484" y="0"/>
                    <a:pt x="1440798" y="32314"/>
                    <a:pt x="1440798" y="72175"/>
                  </a:cubicBezTo>
                  <a:lnTo>
                    <a:pt x="1440798" y="1116809"/>
                  </a:lnTo>
                  <a:cubicBezTo>
                    <a:pt x="1440798" y="1156670"/>
                    <a:pt x="1408484" y="1188984"/>
                    <a:pt x="1368623" y="1188984"/>
                  </a:cubicBezTo>
                  <a:lnTo>
                    <a:pt x="72175" y="1188984"/>
                  </a:lnTo>
                  <a:cubicBezTo>
                    <a:pt x="53033" y="1188984"/>
                    <a:pt x="34675" y="1181380"/>
                    <a:pt x="21140" y="1167844"/>
                  </a:cubicBezTo>
                  <a:cubicBezTo>
                    <a:pt x="7604" y="1154309"/>
                    <a:pt x="0" y="1135951"/>
                    <a:pt x="0" y="1116809"/>
                  </a:cubicBezTo>
                  <a:lnTo>
                    <a:pt x="0" y="72175"/>
                  </a:lnTo>
                  <a:cubicBezTo>
                    <a:pt x="0" y="53033"/>
                    <a:pt x="7604" y="34675"/>
                    <a:pt x="21140" y="21140"/>
                  </a:cubicBezTo>
                  <a:cubicBezTo>
                    <a:pt x="34675" y="7604"/>
                    <a:pt x="53033" y="0"/>
                    <a:pt x="72175" y="0"/>
                  </a:cubicBezTo>
                  <a:close/>
                </a:path>
              </a:pathLst>
            </a:custGeom>
            <a:solidFill>
              <a:srgbClr val="D5EE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1440798" cy="12080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388732" y="1769214"/>
            <a:ext cx="5470531" cy="4514424"/>
            <a:chOff x="0" y="0"/>
            <a:chExt cx="1440798" cy="118898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440798" cy="1188984"/>
            </a:xfrm>
            <a:custGeom>
              <a:avLst/>
              <a:gdLst/>
              <a:ahLst/>
              <a:cxnLst/>
              <a:rect r="r" b="b" t="t" l="l"/>
              <a:pathLst>
                <a:path h="1188984" w="1440798">
                  <a:moveTo>
                    <a:pt x="72175" y="0"/>
                  </a:moveTo>
                  <a:lnTo>
                    <a:pt x="1368623" y="0"/>
                  </a:lnTo>
                  <a:cubicBezTo>
                    <a:pt x="1408484" y="0"/>
                    <a:pt x="1440798" y="32314"/>
                    <a:pt x="1440798" y="72175"/>
                  </a:cubicBezTo>
                  <a:lnTo>
                    <a:pt x="1440798" y="1116809"/>
                  </a:lnTo>
                  <a:cubicBezTo>
                    <a:pt x="1440798" y="1156670"/>
                    <a:pt x="1408484" y="1188984"/>
                    <a:pt x="1368623" y="1188984"/>
                  </a:cubicBezTo>
                  <a:lnTo>
                    <a:pt x="72175" y="1188984"/>
                  </a:lnTo>
                  <a:cubicBezTo>
                    <a:pt x="53033" y="1188984"/>
                    <a:pt x="34675" y="1181380"/>
                    <a:pt x="21140" y="1167844"/>
                  </a:cubicBezTo>
                  <a:cubicBezTo>
                    <a:pt x="7604" y="1154309"/>
                    <a:pt x="0" y="1135951"/>
                    <a:pt x="0" y="1116809"/>
                  </a:cubicBezTo>
                  <a:lnTo>
                    <a:pt x="0" y="72175"/>
                  </a:lnTo>
                  <a:cubicBezTo>
                    <a:pt x="0" y="53033"/>
                    <a:pt x="7604" y="34675"/>
                    <a:pt x="21140" y="21140"/>
                  </a:cubicBezTo>
                  <a:cubicBezTo>
                    <a:pt x="34675" y="7604"/>
                    <a:pt x="53033" y="0"/>
                    <a:pt x="72175" y="0"/>
                  </a:cubicBezTo>
                  <a:close/>
                </a:path>
              </a:pathLst>
            </a:custGeom>
            <a:solidFill>
              <a:srgbClr val="C8FAD9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1440798" cy="12080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297413" y="1769955"/>
            <a:ext cx="5470531" cy="4513683"/>
            <a:chOff x="0" y="0"/>
            <a:chExt cx="1440798" cy="118878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440798" cy="1188789"/>
            </a:xfrm>
            <a:custGeom>
              <a:avLst/>
              <a:gdLst/>
              <a:ahLst/>
              <a:cxnLst/>
              <a:rect r="r" b="b" t="t" l="l"/>
              <a:pathLst>
                <a:path h="1188789" w="1440798">
                  <a:moveTo>
                    <a:pt x="72175" y="0"/>
                  </a:moveTo>
                  <a:lnTo>
                    <a:pt x="1368623" y="0"/>
                  </a:lnTo>
                  <a:cubicBezTo>
                    <a:pt x="1408484" y="0"/>
                    <a:pt x="1440798" y="32314"/>
                    <a:pt x="1440798" y="72175"/>
                  </a:cubicBezTo>
                  <a:lnTo>
                    <a:pt x="1440798" y="1116613"/>
                  </a:lnTo>
                  <a:cubicBezTo>
                    <a:pt x="1440798" y="1135756"/>
                    <a:pt x="1433194" y="1154114"/>
                    <a:pt x="1419659" y="1167649"/>
                  </a:cubicBezTo>
                  <a:cubicBezTo>
                    <a:pt x="1406123" y="1181185"/>
                    <a:pt x="1387765" y="1188789"/>
                    <a:pt x="1368623" y="1188789"/>
                  </a:cubicBezTo>
                  <a:lnTo>
                    <a:pt x="72175" y="1188789"/>
                  </a:lnTo>
                  <a:cubicBezTo>
                    <a:pt x="53033" y="1188789"/>
                    <a:pt x="34675" y="1181185"/>
                    <a:pt x="21140" y="1167649"/>
                  </a:cubicBezTo>
                  <a:cubicBezTo>
                    <a:pt x="7604" y="1154114"/>
                    <a:pt x="0" y="1135756"/>
                    <a:pt x="0" y="1116613"/>
                  </a:cubicBezTo>
                  <a:lnTo>
                    <a:pt x="0" y="72175"/>
                  </a:lnTo>
                  <a:cubicBezTo>
                    <a:pt x="0" y="53033"/>
                    <a:pt x="7604" y="34675"/>
                    <a:pt x="21140" y="21140"/>
                  </a:cubicBezTo>
                  <a:cubicBezTo>
                    <a:pt x="34675" y="7604"/>
                    <a:pt x="53033" y="0"/>
                    <a:pt x="72175" y="0"/>
                  </a:cubicBezTo>
                  <a:close/>
                </a:path>
              </a:pathLst>
            </a:custGeom>
            <a:solidFill>
              <a:srgbClr val="FFAE82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1440798" cy="12078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858734" y="2187419"/>
            <a:ext cx="507700" cy="505161"/>
          </a:xfrm>
          <a:custGeom>
            <a:avLst/>
            <a:gdLst/>
            <a:ahLst/>
            <a:cxnLst/>
            <a:rect r="r" b="b" t="t" l="l"/>
            <a:pathLst>
              <a:path h="505161" w="507700">
                <a:moveTo>
                  <a:pt x="0" y="0"/>
                </a:moveTo>
                <a:lnTo>
                  <a:pt x="507700" y="0"/>
                </a:lnTo>
                <a:lnTo>
                  <a:pt x="507700" y="505162"/>
                </a:lnTo>
                <a:lnTo>
                  <a:pt x="0" y="50516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7425530" y="2104370"/>
            <a:ext cx="614636" cy="614636"/>
          </a:xfrm>
          <a:custGeom>
            <a:avLst/>
            <a:gdLst/>
            <a:ahLst/>
            <a:cxnLst/>
            <a:rect r="r" b="b" t="t" l="l"/>
            <a:pathLst>
              <a:path h="614636" w="614636">
                <a:moveTo>
                  <a:pt x="0" y="0"/>
                </a:moveTo>
                <a:lnTo>
                  <a:pt x="614637" y="0"/>
                </a:lnTo>
                <a:lnTo>
                  <a:pt x="614637" y="614637"/>
                </a:lnTo>
                <a:lnTo>
                  <a:pt x="0" y="61463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3556308" y="1938952"/>
            <a:ext cx="952304" cy="952304"/>
          </a:xfrm>
          <a:custGeom>
            <a:avLst/>
            <a:gdLst/>
            <a:ahLst/>
            <a:cxnLst/>
            <a:rect r="r" b="b" t="t" l="l"/>
            <a:pathLst>
              <a:path h="952304" w="952304">
                <a:moveTo>
                  <a:pt x="0" y="0"/>
                </a:moveTo>
                <a:lnTo>
                  <a:pt x="952304" y="0"/>
                </a:lnTo>
                <a:lnTo>
                  <a:pt x="952304" y="952304"/>
                </a:lnTo>
                <a:lnTo>
                  <a:pt x="0" y="95230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grpSp>
        <p:nvGrpSpPr>
          <p:cNvPr name="Group 27" id="27"/>
          <p:cNvGrpSpPr/>
          <p:nvPr/>
        </p:nvGrpSpPr>
        <p:grpSpPr>
          <a:xfrm rot="0">
            <a:off x="256481" y="359321"/>
            <a:ext cx="2135018" cy="1249101"/>
            <a:chOff x="0" y="0"/>
            <a:chExt cx="2846691" cy="1665468"/>
          </a:xfrm>
        </p:grpSpPr>
        <p:sp>
          <p:nvSpPr>
            <p:cNvPr name="Freeform 28" id="28" descr="Your startup LOGO"/>
            <p:cNvSpPr/>
            <p:nvPr/>
          </p:nvSpPr>
          <p:spPr>
            <a:xfrm flipH="false" flipV="false" rot="0">
              <a:off x="0" y="0"/>
              <a:ext cx="2846648" cy="1665481"/>
            </a:xfrm>
            <a:custGeom>
              <a:avLst/>
              <a:gdLst/>
              <a:ahLst/>
              <a:cxnLst/>
              <a:rect r="r" b="b" t="t" l="l"/>
              <a:pathLst>
                <a:path h="1665481" w="2846648">
                  <a:moveTo>
                    <a:pt x="0" y="832740"/>
                  </a:moveTo>
                  <a:cubicBezTo>
                    <a:pt x="0" y="372873"/>
                    <a:pt x="637290" y="0"/>
                    <a:pt x="1423324" y="0"/>
                  </a:cubicBezTo>
                  <a:cubicBezTo>
                    <a:pt x="2209358" y="0"/>
                    <a:pt x="2846648" y="372873"/>
                    <a:pt x="2846648" y="832740"/>
                  </a:cubicBezTo>
                  <a:cubicBezTo>
                    <a:pt x="2846648" y="1292608"/>
                    <a:pt x="2209358" y="1665481"/>
                    <a:pt x="1423324" y="1665481"/>
                  </a:cubicBezTo>
                  <a:cubicBezTo>
                    <a:pt x="637290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57150"/>
              <a:ext cx="2846691" cy="17226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EleventhHour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241926" y="6521762"/>
            <a:ext cx="17833800" cy="2736538"/>
            <a:chOff x="0" y="0"/>
            <a:chExt cx="4696968" cy="72073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696968" cy="720734"/>
            </a:xfrm>
            <a:custGeom>
              <a:avLst/>
              <a:gdLst/>
              <a:ahLst/>
              <a:cxnLst/>
              <a:rect r="r" b="b" t="t" l="l"/>
              <a:pathLst>
                <a:path h="720734" w="4696968">
                  <a:moveTo>
                    <a:pt x="22140" y="0"/>
                  </a:moveTo>
                  <a:lnTo>
                    <a:pt x="4674828" y="0"/>
                  </a:lnTo>
                  <a:cubicBezTo>
                    <a:pt x="4687056" y="0"/>
                    <a:pt x="4696968" y="9912"/>
                    <a:pt x="4696968" y="22140"/>
                  </a:cubicBezTo>
                  <a:lnTo>
                    <a:pt x="4696968" y="698594"/>
                  </a:lnTo>
                  <a:cubicBezTo>
                    <a:pt x="4696968" y="710822"/>
                    <a:pt x="4687056" y="720734"/>
                    <a:pt x="4674828" y="720734"/>
                  </a:cubicBezTo>
                  <a:lnTo>
                    <a:pt x="22140" y="720734"/>
                  </a:lnTo>
                  <a:cubicBezTo>
                    <a:pt x="9912" y="720734"/>
                    <a:pt x="0" y="710822"/>
                    <a:pt x="0" y="698594"/>
                  </a:cubicBezTo>
                  <a:lnTo>
                    <a:pt x="0" y="22140"/>
                  </a:lnTo>
                  <a:cubicBezTo>
                    <a:pt x="0" y="9912"/>
                    <a:pt x="9912" y="0"/>
                    <a:pt x="2214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9050"/>
              <a:ext cx="4696968" cy="7397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Freeform 33" id="33"/>
          <p:cNvSpPr/>
          <p:nvPr/>
        </p:nvSpPr>
        <p:spPr>
          <a:xfrm flipH="false" flipV="false" rot="0">
            <a:off x="858734" y="7600267"/>
            <a:ext cx="695050" cy="653347"/>
          </a:xfrm>
          <a:custGeom>
            <a:avLst/>
            <a:gdLst/>
            <a:ahLst/>
            <a:cxnLst/>
            <a:rect r="r" b="b" t="t" l="l"/>
            <a:pathLst>
              <a:path h="653347" w="695050">
                <a:moveTo>
                  <a:pt x="0" y="0"/>
                </a:moveTo>
                <a:lnTo>
                  <a:pt x="695050" y="0"/>
                </a:lnTo>
                <a:lnTo>
                  <a:pt x="695050" y="653347"/>
                </a:lnTo>
                <a:lnTo>
                  <a:pt x="0" y="65334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5369401" y="6838061"/>
            <a:ext cx="728684" cy="728684"/>
          </a:xfrm>
          <a:custGeom>
            <a:avLst/>
            <a:gdLst/>
            <a:ahLst/>
            <a:cxnLst/>
            <a:rect r="r" b="b" t="t" l="l"/>
            <a:pathLst>
              <a:path h="728684" w="728684">
                <a:moveTo>
                  <a:pt x="0" y="0"/>
                </a:moveTo>
                <a:lnTo>
                  <a:pt x="728685" y="0"/>
                </a:lnTo>
                <a:lnTo>
                  <a:pt x="728685" y="728684"/>
                </a:lnTo>
                <a:lnTo>
                  <a:pt x="0" y="72868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5" id="35"/>
          <p:cNvSpPr/>
          <p:nvPr/>
        </p:nvSpPr>
        <p:spPr>
          <a:xfrm flipH="true" flipV="true">
            <a:off x="5006915" y="6521762"/>
            <a:ext cx="0" cy="268948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6" id="36"/>
          <p:cNvSpPr/>
          <p:nvPr/>
        </p:nvSpPr>
        <p:spPr>
          <a:xfrm flipH="true" flipV="true">
            <a:off x="9104948" y="6521762"/>
            <a:ext cx="0" cy="257899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7" id="37"/>
          <p:cNvSpPr/>
          <p:nvPr/>
        </p:nvSpPr>
        <p:spPr>
          <a:xfrm flipH="false" flipV="false" rot="0">
            <a:off x="9466898" y="6958940"/>
            <a:ext cx="794517" cy="607805"/>
          </a:xfrm>
          <a:custGeom>
            <a:avLst/>
            <a:gdLst/>
            <a:ahLst/>
            <a:cxnLst/>
            <a:rect r="r" b="b" t="t" l="l"/>
            <a:pathLst>
              <a:path h="607805" w="794517">
                <a:moveTo>
                  <a:pt x="0" y="0"/>
                </a:moveTo>
                <a:lnTo>
                  <a:pt x="794517" y="0"/>
                </a:lnTo>
                <a:lnTo>
                  <a:pt x="794517" y="607805"/>
                </a:lnTo>
                <a:lnTo>
                  <a:pt x="0" y="60780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8" id="38"/>
          <p:cNvSpPr txBox="true"/>
          <p:nvPr/>
        </p:nvSpPr>
        <p:spPr>
          <a:xfrm rot="0">
            <a:off x="6490461" y="2805531"/>
            <a:ext cx="5267072" cy="3375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536" indent="-226768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Workers can be scale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 horizontally as log volume increases.</a:t>
            </a:r>
          </a:p>
          <a:p>
            <a:pPr algn="l" marL="453536" indent="-226768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Queue-based architecture prevents processing bottlenecks.</a:t>
            </a:r>
          </a:p>
          <a:p>
            <a:pPr algn="l" marL="453536" indent="-226768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Pars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er mappings are reusable across similar logs.</a:t>
            </a:r>
          </a:p>
          <a:p>
            <a:pPr algn="l" marL="453536" indent="-226768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Asynchronous ML requests prevent the main pipeline from blocking.</a:t>
            </a:r>
          </a:p>
          <a:p>
            <a:pPr algn="l">
              <a:lnSpc>
                <a:spcPts val="2940"/>
              </a:lnSpc>
            </a:pPr>
          </a:p>
        </p:txBody>
      </p:sp>
      <p:sp>
        <p:nvSpPr>
          <p:cNvPr name="TextBox 39" id="39"/>
          <p:cNvSpPr txBox="true"/>
          <p:nvPr/>
        </p:nvSpPr>
        <p:spPr>
          <a:xfrm rot="0">
            <a:off x="1537884" y="2021535"/>
            <a:ext cx="3960316" cy="722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19"/>
              </a:lnSpc>
            </a:pPr>
            <a:r>
              <a:rPr lang="en-US" b="true" sz="3799">
                <a:solidFill>
                  <a:srgbClr val="09397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Technical Feasibility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8318323" y="1986366"/>
            <a:ext cx="2113955" cy="798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9"/>
              </a:lnSpc>
            </a:pPr>
            <a:r>
              <a:rPr lang="en-US" b="true" sz="4199">
                <a:solidFill>
                  <a:srgbClr val="00492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Scalibility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4508612" y="1978990"/>
            <a:ext cx="1826568" cy="798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b="true" sz="4200">
                <a:solidFill>
                  <a:srgbClr val="F64E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Viability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683510" y="2772105"/>
            <a:ext cx="5267072" cy="3549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946" indent="-215973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Uses proven technologies: Database, Re</a:t>
            </a:r>
            <a:r>
              <a:rPr lang="en-US" sz="2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dis, RabbitMQ and ML services</a:t>
            </a:r>
          </a:p>
          <a:p>
            <a:pPr algn="l" marL="431946" indent="-215973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120+ parallel workers enable concurrent log processing.</a:t>
            </a:r>
          </a:p>
          <a:p>
            <a:pPr algn="l" marL="431946" indent="-215973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Fingerprinting reduces repeated parser-generation requests.</a:t>
            </a:r>
          </a:p>
          <a:p>
            <a:pPr algn="l" marL="431946" indent="-215973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Redis caching provides fast parser retrieval.</a:t>
            </a:r>
          </a:p>
          <a:p>
            <a:pPr algn="l" marL="431946" indent="-215973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RabbitMQ provides reliable asynchronous processing.</a:t>
            </a:r>
          </a:p>
          <a:p>
            <a:pPr algn="l">
              <a:lnSpc>
                <a:spcPts val="2800"/>
              </a:lnSpc>
            </a:pPr>
          </a:p>
        </p:txBody>
      </p:sp>
      <p:sp>
        <p:nvSpPr>
          <p:cNvPr name="TextBox 43" id="43"/>
          <p:cNvSpPr txBox="true"/>
          <p:nvPr/>
        </p:nvSpPr>
        <p:spPr>
          <a:xfrm rot="0">
            <a:off x="12437242" y="2805531"/>
            <a:ext cx="5368802" cy="3375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536" indent="-226768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Existing parsers are reuse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 instead of regenerated.</a:t>
            </a:r>
          </a:p>
          <a:p>
            <a:pPr algn="l" marL="453536" indent="-226768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ML i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 invoked only for previously unseen fingerprints.</a:t>
            </a:r>
          </a:p>
          <a:p>
            <a:pPr algn="l" marL="453536" indent="-226768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Reduc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es manual parser creation and maintenance.</a:t>
            </a:r>
          </a:p>
          <a:p>
            <a:pPr algn="l" marL="453536" indent="-226768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Architecture can support increasing log sources and formats.</a:t>
            </a:r>
          </a:p>
          <a:p>
            <a:pPr algn="l">
              <a:lnSpc>
                <a:spcPts val="2940"/>
              </a:lnSpc>
            </a:pPr>
          </a:p>
        </p:txBody>
      </p:sp>
      <p:sp>
        <p:nvSpPr>
          <p:cNvPr name="TextBox 44" id="44"/>
          <p:cNvSpPr txBox="true"/>
          <p:nvPr/>
        </p:nvSpPr>
        <p:spPr>
          <a:xfrm rot="0">
            <a:off x="1725234" y="7455419"/>
            <a:ext cx="2888832" cy="798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9"/>
              </a:lnSpc>
            </a:pPr>
            <a:r>
              <a:rPr lang="en-US" sz="4199" b="true">
                <a:solidFill>
                  <a:srgbClr val="00492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Future Scope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6299615" y="6774413"/>
            <a:ext cx="2229226" cy="706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79"/>
              </a:lnSpc>
            </a:pPr>
            <a:r>
              <a:rPr lang="en-US" sz="3699" b="true">
                <a:solidFill>
                  <a:srgbClr val="09397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Fine Tuning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5122775" y="7719145"/>
            <a:ext cx="3866313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Fine-tune the LLM to generate </a:t>
            </a:r>
          </a:p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m</a:t>
            </a:r>
            <a:r>
              <a:rPr lang="en-US" b="true" sz="18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ore accurate and reliable </a:t>
            </a:r>
          </a:p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parsers for previously </a:t>
            </a:r>
          </a:p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unseen log formats.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0461440" y="6774413"/>
            <a:ext cx="5054893" cy="706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79"/>
              </a:lnSpc>
            </a:pPr>
            <a:r>
              <a:rPr lang="en-US" sz="3699" b="true">
                <a:solidFill>
                  <a:srgbClr val="09397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Automatic Logs Collection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0204374" y="7719145"/>
            <a:ext cx="6703869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Automatically collect logs from the user’s system thr</a:t>
            </a:r>
            <a:r>
              <a:rPr lang="en-US" b="true" sz="18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ough an installed agent, eliminating the need for manual log uploads.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IMPACT AND BENEFITS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5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75612" y="359321"/>
            <a:ext cx="1915887" cy="1249099"/>
            <a:chOff x="0" y="0"/>
            <a:chExt cx="2554516" cy="1665465"/>
          </a:xfrm>
        </p:grpSpPr>
        <p:sp>
          <p:nvSpPr>
            <p:cNvPr name="Freeform 11" id="11" descr="Your startup LOGO"/>
            <p:cNvSpPr/>
            <p:nvPr/>
          </p:nvSpPr>
          <p:spPr>
            <a:xfrm flipH="false" flipV="false" rot="0">
              <a:off x="0" y="0"/>
              <a:ext cx="2554478" cy="1665478"/>
            </a:xfrm>
            <a:custGeom>
              <a:avLst/>
              <a:gdLst/>
              <a:ahLst/>
              <a:cxnLst/>
              <a:rect r="r" b="b" t="t" l="l"/>
              <a:pathLst>
                <a:path h="1665478" w="2554478">
                  <a:moveTo>
                    <a:pt x="0" y="832739"/>
                  </a:moveTo>
                  <a:cubicBezTo>
                    <a:pt x="0" y="372872"/>
                    <a:pt x="571881" y="0"/>
                    <a:pt x="1277239" y="0"/>
                  </a:cubicBezTo>
                  <a:cubicBezTo>
                    <a:pt x="1982597" y="0"/>
                    <a:pt x="2554478" y="372872"/>
                    <a:pt x="2554478" y="832739"/>
                  </a:cubicBezTo>
                  <a:cubicBezTo>
                    <a:pt x="2554478" y="1292606"/>
                    <a:pt x="1982597" y="1665478"/>
                    <a:pt x="1277239" y="1665478"/>
                  </a:cubicBezTo>
                  <a:cubicBezTo>
                    <a:pt x="571881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2554516" cy="17226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Your Team Name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4762045" y="85649"/>
            <a:ext cx="3313681" cy="1684306"/>
            <a:chOff x="0" y="0"/>
            <a:chExt cx="4418241" cy="224574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418203" cy="2245741"/>
            </a:xfrm>
            <a:custGeom>
              <a:avLst/>
              <a:gdLst/>
              <a:ahLst/>
              <a:cxnLst/>
              <a:rect r="r" b="b" t="t" l="l"/>
              <a:pathLst>
                <a:path h="2245741" w="4418203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70" t="0" r="-270" b="0"/>
              </a:stretch>
            </a:blipFill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256481" y="2343319"/>
            <a:ext cx="6565255" cy="6630769"/>
          </a:xfrm>
          <a:custGeom>
            <a:avLst/>
            <a:gdLst/>
            <a:ahLst/>
            <a:cxnLst/>
            <a:rect r="r" b="b" t="t" l="l"/>
            <a:pathLst>
              <a:path h="6630769" w="6565255">
                <a:moveTo>
                  <a:pt x="0" y="0"/>
                </a:moveTo>
                <a:lnTo>
                  <a:pt x="6565254" y="0"/>
                </a:lnTo>
                <a:lnTo>
                  <a:pt x="6565254" y="6630769"/>
                </a:lnTo>
                <a:lnTo>
                  <a:pt x="0" y="66307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070" t="0" r="-100924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6553191" y="2201118"/>
            <a:ext cx="6657753" cy="6772970"/>
          </a:xfrm>
          <a:custGeom>
            <a:avLst/>
            <a:gdLst/>
            <a:ahLst/>
            <a:cxnLst/>
            <a:rect r="r" b="b" t="t" l="l"/>
            <a:pathLst>
              <a:path h="6772970" w="6657753">
                <a:moveTo>
                  <a:pt x="0" y="0"/>
                </a:moveTo>
                <a:lnTo>
                  <a:pt x="6657753" y="0"/>
                </a:lnTo>
                <a:lnTo>
                  <a:pt x="6657753" y="6772970"/>
                </a:lnTo>
                <a:lnTo>
                  <a:pt x="0" y="67729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02019" t="0" r="-1441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5719997" y="3400193"/>
            <a:ext cx="1539303" cy="2478635"/>
          </a:xfrm>
          <a:custGeom>
            <a:avLst/>
            <a:gdLst/>
            <a:ahLst/>
            <a:cxnLst/>
            <a:rect r="r" b="b" t="t" l="l"/>
            <a:pathLst>
              <a:path h="2478635" w="1539303">
                <a:moveTo>
                  <a:pt x="0" y="0"/>
                </a:moveTo>
                <a:lnTo>
                  <a:pt x="1539303" y="0"/>
                </a:lnTo>
                <a:lnTo>
                  <a:pt x="1539303" y="2478635"/>
                </a:lnTo>
                <a:lnTo>
                  <a:pt x="0" y="247863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383371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2391499" y="1386449"/>
            <a:ext cx="12815797" cy="738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606"/>
              </a:lnSpc>
            </a:pPr>
            <a:r>
              <a:rPr lang="en-US" b="true" sz="4671">
                <a:solidFill>
                  <a:srgbClr val="093974"/>
                </a:solidFill>
                <a:latin typeface="Arial Bold"/>
                <a:ea typeface="Arial Bold"/>
                <a:cs typeface="Arial Bold"/>
                <a:sym typeface="Arial Bold"/>
              </a:rPr>
              <a:t>Transforming Raw Logs into Actionable Data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3590818" y="5143500"/>
            <a:ext cx="1654518" cy="2342099"/>
          </a:xfrm>
          <a:custGeom>
            <a:avLst/>
            <a:gdLst/>
            <a:ahLst/>
            <a:cxnLst/>
            <a:rect r="r" b="b" t="t" l="l"/>
            <a:pathLst>
              <a:path h="2342099" w="1654518">
                <a:moveTo>
                  <a:pt x="0" y="0"/>
                </a:moveTo>
                <a:lnTo>
                  <a:pt x="1654517" y="0"/>
                </a:lnTo>
                <a:lnTo>
                  <a:pt x="1654517" y="2342099"/>
                </a:lnTo>
                <a:lnTo>
                  <a:pt x="0" y="234209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93562" t="0" r="-131376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3590818" y="3582637"/>
            <a:ext cx="1863606" cy="2296191"/>
          </a:xfrm>
          <a:custGeom>
            <a:avLst/>
            <a:gdLst/>
            <a:ahLst/>
            <a:cxnLst/>
            <a:rect r="r" b="b" t="t" l="l"/>
            <a:pathLst>
              <a:path h="2296191" w="1863606">
                <a:moveTo>
                  <a:pt x="0" y="0"/>
                </a:moveTo>
                <a:lnTo>
                  <a:pt x="1863606" y="0"/>
                </a:lnTo>
                <a:lnTo>
                  <a:pt x="1863606" y="2296191"/>
                </a:lnTo>
                <a:lnTo>
                  <a:pt x="0" y="229619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69867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5820350" y="5143500"/>
            <a:ext cx="1553250" cy="2583399"/>
          </a:xfrm>
          <a:custGeom>
            <a:avLst/>
            <a:gdLst/>
            <a:ahLst/>
            <a:cxnLst/>
            <a:rect r="r" b="b" t="t" l="l"/>
            <a:pathLst>
              <a:path h="2583399" w="1553250">
                <a:moveTo>
                  <a:pt x="0" y="0"/>
                </a:moveTo>
                <a:lnTo>
                  <a:pt x="1553250" y="0"/>
                </a:lnTo>
                <a:lnTo>
                  <a:pt x="1553250" y="2583399"/>
                </a:lnTo>
                <a:lnTo>
                  <a:pt x="0" y="258339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18342" t="0" r="-280935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256481" y="359321"/>
            <a:ext cx="2135018" cy="1249101"/>
            <a:chOff x="0" y="0"/>
            <a:chExt cx="2846691" cy="1665468"/>
          </a:xfrm>
        </p:grpSpPr>
        <p:sp>
          <p:nvSpPr>
            <p:cNvPr name="Freeform 23" id="23" descr="Your startup LOGO"/>
            <p:cNvSpPr/>
            <p:nvPr/>
          </p:nvSpPr>
          <p:spPr>
            <a:xfrm flipH="false" flipV="false" rot="0">
              <a:off x="0" y="0"/>
              <a:ext cx="2846648" cy="1665481"/>
            </a:xfrm>
            <a:custGeom>
              <a:avLst/>
              <a:gdLst/>
              <a:ahLst/>
              <a:cxnLst/>
              <a:rect r="r" b="b" t="t" l="l"/>
              <a:pathLst>
                <a:path h="1665481" w="2846648">
                  <a:moveTo>
                    <a:pt x="0" y="832740"/>
                  </a:moveTo>
                  <a:cubicBezTo>
                    <a:pt x="0" y="372873"/>
                    <a:pt x="637290" y="0"/>
                    <a:pt x="1423324" y="0"/>
                  </a:cubicBezTo>
                  <a:cubicBezTo>
                    <a:pt x="2209358" y="0"/>
                    <a:pt x="2846648" y="372873"/>
                    <a:pt x="2846648" y="832740"/>
                  </a:cubicBezTo>
                  <a:cubicBezTo>
                    <a:pt x="2846648" y="1292608"/>
                    <a:pt x="2209358" y="1665481"/>
                    <a:pt x="1423324" y="1665481"/>
                  </a:cubicBezTo>
                  <a:cubicBezTo>
                    <a:pt x="637290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57150"/>
              <a:ext cx="2846691" cy="17226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EleventhHour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RESEARCH  AND REFERENCES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6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75612" y="359321"/>
            <a:ext cx="1915887" cy="1249099"/>
            <a:chOff x="0" y="0"/>
            <a:chExt cx="2554516" cy="1665465"/>
          </a:xfrm>
        </p:grpSpPr>
        <p:sp>
          <p:nvSpPr>
            <p:cNvPr name="Freeform 11" id="11" descr="Your startup LOGO"/>
            <p:cNvSpPr/>
            <p:nvPr/>
          </p:nvSpPr>
          <p:spPr>
            <a:xfrm flipH="false" flipV="false" rot="0">
              <a:off x="0" y="0"/>
              <a:ext cx="2554478" cy="1665478"/>
            </a:xfrm>
            <a:custGeom>
              <a:avLst/>
              <a:gdLst/>
              <a:ahLst/>
              <a:cxnLst/>
              <a:rect r="r" b="b" t="t" l="l"/>
              <a:pathLst>
                <a:path h="1665478" w="2554478">
                  <a:moveTo>
                    <a:pt x="0" y="832739"/>
                  </a:moveTo>
                  <a:cubicBezTo>
                    <a:pt x="0" y="372872"/>
                    <a:pt x="571881" y="0"/>
                    <a:pt x="1277239" y="0"/>
                  </a:cubicBezTo>
                  <a:cubicBezTo>
                    <a:pt x="1982597" y="0"/>
                    <a:pt x="2554478" y="372872"/>
                    <a:pt x="2554478" y="832739"/>
                  </a:cubicBezTo>
                  <a:cubicBezTo>
                    <a:pt x="2554478" y="1292606"/>
                    <a:pt x="1982597" y="1665478"/>
                    <a:pt x="1277239" y="1665478"/>
                  </a:cubicBezTo>
                  <a:cubicBezTo>
                    <a:pt x="571881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2554516" cy="17226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Your Team Name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4762045" y="85649"/>
            <a:ext cx="3313681" cy="1684306"/>
            <a:chOff x="0" y="0"/>
            <a:chExt cx="4418241" cy="224574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418203" cy="2245741"/>
            </a:xfrm>
            <a:custGeom>
              <a:avLst/>
              <a:gdLst/>
              <a:ahLst/>
              <a:cxnLst/>
              <a:rect r="r" b="b" t="t" l="l"/>
              <a:pathLst>
                <a:path h="2245741" w="4418203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70" t="0" r="-270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256481" y="359321"/>
            <a:ext cx="2135018" cy="1249101"/>
            <a:chOff x="0" y="0"/>
            <a:chExt cx="2846691" cy="1665468"/>
          </a:xfrm>
        </p:grpSpPr>
        <p:sp>
          <p:nvSpPr>
            <p:cNvPr name="Freeform 16" id="16" descr="Your startup LOGO"/>
            <p:cNvSpPr/>
            <p:nvPr/>
          </p:nvSpPr>
          <p:spPr>
            <a:xfrm flipH="false" flipV="false" rot="0">
              <a:off x="0" y="0"/>
              <a:ext cx="2846648" cy="1665481"/>
            </a:xfrm>
            <a:custGeom>
              <a:avLst/>
              <a:gdLst/>
              <a:ahLst/>
              <a:cxnLst/>
              <a:rect r="r" b="b" t="t" l="l"/>
              <a:pathLst>
                <a:path h="1665481" w="2846648">
                  <a:moveTo>
                    <a:pt x="0" y="832740"/>
                  </a:moveTo>
                  <a:cubicBezTo>
                    <a:pt x="0" y="372873"/>
                    <a:pt x="637290" y="0"/>
                    <a:pt x="1423324" y="0"/>
                  </a:cubicBezTo>
                  <a:cubicBezTo>
                    <a:pt x="2209358" y="0"/>
                    <a:pt x="2846648" y="372873"/>
                    <a:pt x="2846648" y="832740"/>
                  </a:cubicBezTo>
                  <a:cubicBezTo>
                    <a:pt x="2846648" y="1292608"/>
                    <a:pt x="2209358" y="1665481"/>
                    <a:pt x="1423324" y="1665481"/>
                  </a:cubicBezTo>
                  <a:cubicBezTo>
                    <a:pt x="637290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2846691" cy="17226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EleventhHour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247337" y="9105900"/>
            <a:ext cx="1803985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*Click to Interact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75612" y="4082231"/>
            <a:ext cx="5661861" cy="592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2. </a:t>
            </a:r>
            <a:r>
              <a:rPr lang="en-US" sz="3300" u="sng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  <a:hlinkClick r:id="rId5" tooltip="https://go.dev/blog/pipelines"/>
              </a:rPr>
              <a:t>https://go.dev/blog/pipelines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75612" y="5427199"/>
            <a:ext cx="14092864" cy="592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3. </a:t>
            </a:r>
            <a:r>
              <a:rPr lang="en-US" sz="3300" u="sng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  <a:hlinkClick r:id="rId6" tooltip="https://www.gofaq.org/en/how-to-implement-the-worker-pool-pattern-in-go"/>
              </a:rPr>
              <a:t>https://www.gofaq.org/en/how-to-implement-the-worker-pool-pattern-in-go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75612" y="7309435"/>
            <a:ext cx="11298530" cy="592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4. </a:t>
            </a:r>
            <a:r>
              <a:rPr lang="en-US" sz="3300" u="sng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  <a:hlinkClick r:id="rId7" tooltip="https://redis.io/docs/latest/develop/use-cases/cache-aside/"/>
              </a:rPr>
              <a:t>https://redis.io/docs/latest/develop/use-cases/cache-aside/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75612" y="2741746"/>
            <a:ext cx="9832181" cy="592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1. </a:t>
            </a:r>
            <a:r>
              <a:rPr lang="en-US" sz="3300" u="sng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  <a:hlinkClick r:id="rId8" tooltip="https://jiemingzhu.github.io/pub/pjhe_icws2017.pdf"/>
              </a:rPr>
              <a:t>https://jiemingzhu.github.io/pub/pjhe_icws2017.pdf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DAHUoPaO6EE</dc:identifier>
  <dcterms:modified xsi:type="dcterms:W3CDTF">2011-08-01T06:04:30Z</dcterms:modified>
  <cp:revision>1</cp:revision>
  <dc:title>sihtemplateppt.pptx</dc:title>
</cp:coreProperties>
</file>